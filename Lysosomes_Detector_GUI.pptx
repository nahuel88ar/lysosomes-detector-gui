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EEB1B-3B49-4A6C-B4D9-7BB2530314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2A7327-1264-4387-8F7F-E5AC57DDE7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B1C0F8-356E-4B3B-A670-A6AB7CDD34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D7D7B8-B50B-45A2-921F-6B3E05EF33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2FA54-53D3-43D8-BAB7-134B6B0A11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02A27-5446-4EB1-BC98-F7B6B3E7E7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365A1B-2735-4165-BF38-29A11328A1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4EACF2-909C-4C4D-AA2C-F491137182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6F5BDD-AF44-4A5E-BE7F-A313A147DC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450D4D-D9B5-4E09-AD83-453F65FF2C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6A67C0-8D78-4A7A-82C9-42E2746625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Lysosomes Detector GUI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720840"/>
            <a:ext cx="12188520" cy="109800"/>
          </a:xfrm>
          <a:prstGeom prst="rect">
            <a:avLst/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914400"/>
            <a:ext cx="6400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Automated 3D Lysosome 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Cell Segmentation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Quantitative Fluorescence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val 4"/>
          <p:cNvSpPr/>
          <p:nvPr/>
        </p:nvSpPr>
        <p:spPr>
          <a:xfrm>
            <a:off x="8412480" y="1097280"/>
            <a:ext cx="699480" cy="699480"/>
          </a:xfrm>
          <a:prstGeom prst="ellipse">
            <a:avLst/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5"/>
          <p:cNvSpPr/>
          <p:nvPr/>
        </p:nvSpPr>
        <p:spPr>
          <a:xfrm>
            <a:off x="9235440" y="1097280"/>
            <a:ext cx="699480" cy="699480"/>
          </a:xfrm>
          <a:prstGeom prst="ellipse">
            <a:avLst/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6"/>
          <p:cNvSpPr/>
          <p:nvPr/>
        </p:nvSpPr>
        <p:spPr>
          <a:xfrm>
            <a:off x="10058400" y="1097280"/>
            <a:ext cx="699480" cy="699480"/>
          </a:xfrm>
          <a:prstGeom prst="ellipse">
            <a:avLst/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this software?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0" y="6720840"/>
            <a:ext cx="12188520" cy="109800"/>
          </a:xfrm>
          <a:prstGeom prst="rect">
            <a:avLst/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914400"/>
            <a:ext cx="91436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Manual counting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Observer bias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Time-consuming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Automated 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Cell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Quantification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Publication-ready outputs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Software Overview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6720840"/>
            <a:ext cx="12188520" cy="109800"/>
          </a:xfrm>
          <a:prstGeom prst="rect">
            <a:avLst/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ounded Rectangle 3"/>
          <p:cNvSpPr/>
          <p:nvPr/>
        </p:nvSpPr>
        <p:spPr>
          <a:xfrm>
            <a:off x="6400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GUI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4"/>
          <p:cNvSpPr/>
          <p:nvPr/>
        </p:nvSpPr>
        <p:spPr>
          <a:xfrm>
            <a:off x="24688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Image Loader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5"/>
          <p:cNvSpPr/>
          <p:nvPr/>
        </p:nvSpPr>
        <p:spPr>
          <a:xfrm>
            <a:off x="42976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Detection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6"/>
          <p:cNvSpPr/>
          <p:nvPr/>
        </p:nvSpPr>
        <p:spPr>
          <a:xfrm>
            <a:off x="61264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Segmentation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7"/>
          <p:cNvSpPr/>
          <p:nvPr/>
        </p:nvSpPr>
        <p:spPr>
          <a:xfrm>
            <a:off x="79552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Quantification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8"/>
          <p:cNvSpPr/>
          <p:nvPr/>
        </p:nvSpPr>
        <p:spPr>
          <a:xfrm>
            <a:off x="9784080" y="2011680"/>
            <a:ext cx="137124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Export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Complete Workflow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6720840"/>
            <a:ext cx="12188520" cy="109800"/>
          </a:xfrm>
          <a:prstGeom prst="rect">
            <a:avLst/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3"/>
          <p:cNvSpPr/>
          <p:nvPr/>
        </p:nvSpPr>
        <p:spPr>
          <a:xfrm>
            <a:off x="36576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Input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160020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Metadata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283464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Gaussian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6"/>
          <p:cNvSpPr/>
          <p:nvPr/>
        </p:nvSpPr>
        <p:spPr>
          <a:xfrm>
            <a:off x="406908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530352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Radius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8"/>
          <p:cNvSpPr/>
          <p:nvPr/>
        </p:nvSpPr>
        <p:spPr>
          <a:xfrm>
            <a:off x="653796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Watershed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777240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Assign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0"/>
          <p:cNvSpPr/>
          <p:nvPr/>
        </p:nvSpPr>
        <p:spPr>
          <a:xfrm>
            <a:off x="900684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Quantify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10241280" y="1828800"/>
            <a:ext cx="914040" cy="5482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Export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GUI Overview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0" y="6720840"/>
            <a:ext cx="12188520" cy="109800"/>
          </a:xfrm>
          <a:prstGeom prst="rect">
            <a:avLst/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ounded Rectangle 4"/>
          <p:cNvSpPr/>
          <p:nvPr/>
        </p:nvSpPr>
        <p:spPr>
          <a:xfrm>
            <a:off x="7772400" y="914400"/>
            <a:ext cx="274284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Image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5"/>
          <p:cNvSpPr/>
          <p:nvPr/>
        </p:nvSpPr>
        <p:spPr>
          <a:xfrm>
            <a:off x="7772400" y="2286000"/>
            <a:ext cx="274284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Parameters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6"/>
          <p:cNvSpPr/>
          <p:nvPr/>
        </p:nvSpPr>
        <p:spPr>
          <a:xfrm>
            <a:off x="7772400" y="3657600"/>
            <a:ext cx="274284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647640" y="685800"/>
            <a:ext cx="6210360" cy="4892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8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Loading &amp; Metadata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90"/>
          <p:cNvSpPr/>
          <p:nvPr/>
        </p:nvSpPr>
        <p:spPr>
          <a:xfrm>
            <a:off x="3657600" y="82296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📁 Input Image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TIFF / OME-TIFF / CZI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Down Arrow 8"/>
          <p:cNvSpPr/>
          <p:nvPr/>
        </p:nvSpPr>
        <p:spPr>
          <a:xfrm>
            <a:off x="5897880" y="148140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91"/>
          <p:cNvSpPr/>
          <p:nvPr/>
        </p:nvSpPr>
        <p:spPr>
          <a:xfrm>
            <a:off x="3657600" y="182880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🔍 Read Metadata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Extract voxel size and image dimensions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Down Arrow 10"/>
          <p:cNvSpPr/>
          <p:nvPr/>
        </p:nvSpPr>
        <p:spPr>
          <a:xfrm>
            <a:off x="5897880" y="248724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ounded Rectangle 92"/>
          <p:cNvSpPr/>
          <p:nvPr/>
        </p:nvSpPr>
        <p:spPr>
          <a:xfrm>
            <a:off x="3657600" y="283464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F28C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📏 Physical Pixel Size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X, Y and Z spacing (µm)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Down Arrow 12"/>
          <p:cNvSpPr/>
          <p:nvPr/>
        </p:nvSpPr>
        <p:spPr>
          <a:xfrm>
            <a:off x="5897880" y="349308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93"/>
          <p:cNvSpPr/>
          <p:nvPr/>
        </p:nvSpPr>
        <p:spPr>
          <a:xfrm>
            <a:off x="3657600" y="384048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❓ Metadata Missing?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Prompt user to enter voxel size manually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Down Arrow 14"/>
          <p:cNvSpPr/>
          <p:nvPr/>
        </p:nvSpPr>
        <p:spPr>
          <a:xfrm>
            <a:off x="5897880" y="449892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94"/>
          <p:cNvSpPr/>
          <p:nvPr/>
        </p:nvSpPr>
        <p:spPr>
          <a:xfrm>
            <a:off x="3657600" y="484632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Ready for Processing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Validated image and metadata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0" y="1143000"/>
            <a:ext cx="342432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Purpose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Supports multiple microscopy formats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Automatically extracts voxel metadata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Requests manual values only when needed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Ensures accurate physical measurements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3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Preprocessing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12"/>
          <p:cNvSpPr/>
          <p:nvPr/>
        </p:nvSpPr>
        <p:spPr>
          <a:xfrm>
            <a:off x="3657600" y="82296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Raw Image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Original fluorescence stack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Down Arrow 17"/>
          <p:cNvSpPr/>
          <p:nvPr/>
        </p:nvSpPr>
        <p:spPr>
          <a:xfrm>
            <a:off x="5897880" y="148140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13"/>
          <p:cNvSpPr/>
          <p:nvPr/>
        </p:nvSpPr>
        <p:spPr>
          <a:xfrm>
            <a:off x="3657600" y="182880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Normalization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Intensity scaling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Down Arrow 18"/>
          <p:cNvSpPr/>
          <p:nvPr/>
        </p:nvSpPr>
        <p:spPr>
          <a:xfrm>
            <a:off x="5897880" y="248724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14"/>
          <p:cNvSpPr/>
          <p:nvPr/>
        </p:nvSpPr>
        <p:spPr>
          <a:xfrm>
            <a:off x="3657600" y="283464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F28C2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Gaussian Smoothing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Noise suppression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Down Arrow 19"/>
          <p:cNvSpPr/>
          <p:nvPr/>
        </p:nvSpPr>
        <p:spPr>
          <a:xfrm>
            <a:off x="5897880" y="349308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5"/>
          <p:cNvSpPr/>
          <p:nvPr/>
        </p:nvSpPr>
        <p:spPr>
          <a:xfrm>
            <a:off x="3657600" y="384048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Background Correction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Remove low-frequency background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Down Arrow 20"/>
          <p:cNvSpPr/>
          <p:nvPr/>
        </p:nvSpPr>
        <p:spPr>
          <a:xfrm>
            <a:off x="5897880" y="449892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ounded Rectangle 16"/>
          <p:cNvSpPr/>
          <p:nvPr/>
        </p:nvSpPr>
        <p:spPr>
          <a:xfrm>
            <a:off x="3657600" y="4846320"/>
            <a:ext cx="4845960" cy="6580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00A0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Preprocessed Image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Optimized for LoG detection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320040" y="1097280"/>
            <a:ext cx="313560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preprocess?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Improve signal-to-noise ratio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Reduce false detections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Enhance blob detection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 Increase segmentation robustness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5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 Detection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548640" y="640080"/>
            <a:ext cx="55656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blob_log identifies candidate lysosomes in the 3D volume.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22"/>
          <p:cNvSpPr/>
          <p:nvPr/>
        </p:nvSpPr>
        <p:spPr>
          <a:xfrm>
            <a:off x="4343400" y="1143000"/>
            <a:ext cx="3657600" cy="59400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23"/>
          <p:cNvSpPr/>
          <p:nvPr/>
        </p:nvSpPr>
        <p:spPr>
          <a:xfrm>
            <a:off x="4343400" y="2971800"/>
            <a:ext cx="3657600" cy="6393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Blob Candidates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4"/>
          <p:cNvSpPr/>
          <p:nvPr/>
        </p:nvSpPr>
        <p:spPr>
          <a:xfrm>
            <a:off x="4343400" y="2057400"/>
            <a:ext cx="3657600" cy="68580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Threshold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25"/>
          <p:cNvSpPr/>
          <p:nvPr/>
        </p:nvSpPr>
        <p:spPr>
          <a:xfrm>
            <a:off x="4343400" y="3886200"/>
            <a:ext cx="3657600" cy="73152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Coordinates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26"/>
          <p:cNvSpPr/>
          <p:nvPr/>
        </p:nvSpPr>
        <p:spPr>
          <a:xfrm>
            <a:off x="4343760" y="4923360"/>
            <a:ext cx="3657240" cy="68580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Down Arrow 1"/>
          <p:cNvSpPr/>
          <p:nvPr/>
        </p:nvSpPr>
        <p:spPr>
          <a:xfrm>
            <a:off x="5897880" y="173700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Down Arrow 2"/>
          <p:cNvSpPr/>
          <p:nvPr/>
        </p:nvSpPr>
        <p:spPr>
          <a:xfrm>
            <a:off x="5852520" y="274320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Down Arrow 4"/>
          <p:cNvSpPr/>
          <p:nvPr/>
        </p:nvSpPr>
        <p:spPr>
          <a:xfrm>
            <a:off x="5852520" y="365760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Down Arrow 6"/>
          <p:cNvSpPr/>
          <p:nvPr/>
        </p:nvSpPr>
        <p:spPr>
          <a:xfrm>
            <a:off x="5943600" y="461772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D2D2D"/>
          </a:solidFill>
          <a:ln>
            <a:solidFill>
              <a:srgbClr val="2D2D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6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Radius Refinement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2"/>
          <p:cNvSpPr/>
          <p:nvPr/>
        </p:nvSpPr>
        <p:spPr>
          <a:xfrm>
            <a:off x="640080" y="1371600"/>
            <a:ext cx="2925720" cy="34743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3D Gaussian Fit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Fits σx, σy and σz around each lysosome.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27"/>
          <p:cNvSpPr/>
          <p:nvPr/>
        </p:nvSpPr>
        <p:spPr>
          <a:xfrm>
            <a:off x="4297680" y="1371600"/>
            <a:ext cx="2925720" cy="34743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Radial Intensity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Computes radial profile and FWHM.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28"/>
          <p:cNvSpPr/>
          <p:nvPr/>
        </p:nvSpPr>
        <p:spPr>
          <a:xfrm>
            <a:off x="7955280" y="1371600"/>
            <a:ext cx="2925720" cy="34743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Final Radius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Combines both estimates into a robust radius.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 Outputs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29"/>
          <p:cNvSpPr/>
          <p:nvPr/>
        </p:nvSpPr>
        <p:spPr>
          <a:xfrm>
            <a:off x="640080" y="118872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Coordinates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3D centroid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30"/>
          <p:cNvSpPr/>
          <p:nvPr/>
        </p:nvSpPr>
        <p:spPr>
          <a:xfrm>
            <a:off x="4389120" y="118872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Diameter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Physical size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31"/>
          <p:cNvSpPr/>
          <p:nvPr/>
        </p:nvSpPr>
        <p:spPr>
          <a:xfrm>
            <a:off x="8138160" y="118872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Volume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µm³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32"/>
          <p:cNvSpPr/>
          <p:nvPr/>
        </p:nvSpPr>
        <p:spPr>
          <a:xfrm>
            <a:off x="640080" y="329184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Peak Intensity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Maximum fluorescence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33"/>
          <p:cNvSpPr/>
          <p:nvPr/>
        </p:nvSpPr>
        <p:spPr>
          <a:xfrm>
            <a:off x="4389120" y="329184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CSV Export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Publication-ready table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34"/>
          <p:cNvSpPr/>
          <p:nvPr/>
        </p:nvSpPr>
        <p:spPr>
          <a:xfrm>
            <a:off x="8138160" y="3291840"/>
            <a:ext cx="3017160" cy="146268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Overlay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Visual validation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8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 Segmentation Pipeline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35"/>
          <p:cNvSpPr/>
          <p:nvPr/>
        </p:nvSpPr>
        <p:spPr>
          <a:xfrm>
            <a:off x="365760" y="2103120"/>
            <a:ext cx="109692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Cell Channel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ight Arrow 3"/>
          <p:cNvSpPr/>
          <p:nvPr/>
        </p:nvSpPr>
        <p:spPr>
          <a:xfrm>
            <a:off x="1463040" y="233172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36"/>
          <p:cNvSpPr/>
          <p:nvPr/>
        </p:nvSpPr>
        <p:spPr>
          <a:xfrm>
            <a:off x="1920240" y="2103120"/>
            <a:ext cx="109692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Gaussian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ight Arrow 5"/>
          <p:cNvSpPr/>
          <p:nvPr/>
        </p:nvSpPr>
        <p:spPr>
          <a:xfrm>
            <a:off x="3017520" y="233172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37"/>
          <p:cNvSpPr/>
          <p:nvPr/>
        </p:nvSpPr>
        <p:spPr>
          <a:xfrm>
            <a:off x="3474720" y="2103120"/>
            <a:ext cx="123480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Adaptive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Threshold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ight Arrow 17"/>
          <p:cNvSpPr/>
          <p:nvPr/>
        </p:nvSpPr>
        <p:spPr>
          <a:xfrm>
            <a:off x="4709520" y="233172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ounded Rectangle 38"/>
          <p:cNvSpPr/>
          <p:nvPr/>
        </p:nvSpPr>
        <p:spPr>
          <a:xfrm>
            <a:off x="5029200" y="2103120"/>
            <a:ext cx="150912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Morphology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ight Arrow 18"/>
          <p:cNvSpPr/>
          <p:nvPr/>
        </p:nvSpPr>
        <p:spPr>
          <a:xfrm>
            <a:off x="6538320" y="233208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ounded Rectangle 39"/>
          <p:cNvSpPr/>
          <p:nvPr/>
        </p:nvSpPr>
        <p:spPr>
          <a:xfrm>
            <a:off x="6858000" y="2103120"/>
            <a:ext cx="137160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Distance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Transform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ight Arrow 19"/>
          <p:cNvSpPr/>
          <p:nvPr/>
        </p:nvSpPr>
        <p:spPr>
          <a:xfrm>
            <a:off x="8229600" y="233208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ounded Rectangle 40"/>
          <p:cNvSpPr/>
          <p:nvPr/>
        </p:nvSpPr>
        <p:spPr>
          <a:xfrm>
            <a:off x="8504280" y="2057400"/>
            <a:ext cx="132552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Watershed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ight Arrow 20"/>
          <p:cNvSpPr/>
          <p:nvPr/>
        </p:nvSpPr>
        <p:spPr>
          <a:xfrm>
            <a:off x="9829800" y="2332080"/>
            <a:ext cx="319680" cy="182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28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ounded Rectangle 41"/>
          <p:cNvSpPr/>
          <p:nvPr/>
        </p:nvSpPr>
        <p:spPr>
          <a:xfrm>
            <a:off x="10104480" y="2057400"/>
            <a:ext cx="109692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Labeled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Cells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 Assignment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42"/>
          <p:cNvSpPr/>
          <p:nvPr/>
        </p:nvSpPr>
        <p:spPr>
          <a:xfrm>
            <a:off x="548640" y="1097280"/>
            <a:ext cx="2925720" cy="4388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Input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Detected lysosomes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+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 labels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43"/>
          <p:cNvSpPr/>
          <p:nvPr/>
        </p:nvSpPr>
        <p:spPr>
          <a:xfrm>
            <a:off x="4572000" y="1097280"/>
            <a:ext cx="2925720" cy="43887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Decision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Inside cell?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Overlap?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Nearest cell?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44"/>
          <p:cNvSpPr/>
          <p:nvPr/>
        </p:nvSpPr>
        <p:spPr>
          <a:xfrm>
            <a:off x="8412480" y="1097280"/>
            <a:ext cx="2925720" cy="43887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 ID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Outside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Serial IDs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0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Signal Quantification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45"/>
          <p:cNvSpPr/>
          <p:nvPr/>
        </p:nvSpPr>
        <p:spPr>
          <a:xfrm>
            <a:off x="548640" y="109728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 Signal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Total fluorescence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46"/>
          <p:cNvSpPr/>
          <p:nvPr/>
        </p:nvSpPr>
        <p:spPr>
          <a:xfrm>
            <a:off x="4297680" y="109728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 Signal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Integrated intensity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47"/>
          <p:cNvSpPr/>
          <p:nvPr/>
        </p:nvSpPr>
        <p:spPr>
          <a:xfrm>
            <a:off x="8046720" y="109728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 Volume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Voxel count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48"/>
          <p:cNvSpPr/>
          <p:nvPr/>
        </p:nvSpPr>
        <p:spPr>
          <a:xfrm>
            <a:off x="548640" y="329184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Distance Analysis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0–0.2, 0.2–0.5 µm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49"/>
          <p:cNvSpPr/>
          <p:nvPr/>
        </p:nvSpPr>
        <p:spPr>
          <a:xfrm>
            <a:off x="4297680" y="329184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Residual Signal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Outside puncta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50"/>
          <p:cNvSpPr/>
          <p:nvPr/>
        </p:nvSpPr>
        <p:spPr>
          <a:xfrm>
            <a:off x="8046720" y="3291840"/>
            <a:ext cx="3017160" cy="1645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Statistics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Per-cell CSV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1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Napari Interactive Editing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51"/>
          <p:cNvSpPr/>
          <p:nvPr/>
        </p:nvSpPr>
        <p:spPr>
          <a:xfrm>
            <a:off x="731520" y="1005840"/>
            <a:ext cx="4754520" cy="475452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Editable Objects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Add/remove lysosomes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Change cell IDs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Mark outside/cell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Filter cells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Save edited tables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52"/>
          <p:cNvSpPr/>
          <p:nvPr/>
        </p:nvSpPr>
        <p:spPr>
          <a:xfrm>
            <a:off x="5943600" y="1005840"/>
            <a:ext cx="5303160" cy="475452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Workflow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Load results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↓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Inspect detections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↓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Manual correction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↓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Export corrected CSV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2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Generated Outputs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53"/>
          <p:cNvSpPr/>
          <p:nvPr/>
        </p:nvSpPr>
        <p:spPr>
          <a:xfrm>
            <a:off x="640080" y="91440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lysosome_blobs_regions.csv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Rounded Rectangle 54"/>
          <p:cNvSpPr/>
          <p:nvPr/>
        </p:nvSpPr>
        <p:spPr>
          <a:xfrm>
            <a:off x="640080" y="164592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lysosomes_with_cell_vs_outside.csv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55"/>
          <p:cNvSpPr/>
          <p:nvPr/>
        </p:nvSpPr>
        <p:spPr>
          <a:xfrm>
            <a:off x="640080" y="237744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cell_signal_vs_lysosome_signal_extended.csv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56"/>
          <p:cNvSpPr/>
          <p:nvPr/>
        </p:nvSpPr>
        <p:spPr>
          <a:xfrm>
            <a:off x="640080" y="310896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Overlay TIFF stacks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57"/>
          <p:cNvSpPr/>
          <p:nvPr/>
        </p:nvSpPr>
        <p:spPr>
          <a:xfrm>
            <a:off x="640080" y="384048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MP4 / GIF videos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58"/>
          <p:cNvSpPr/>
          <p:nvPr/>
        </p:nvSpPr>
        <p:spPr>
          <a:xfrm>
            <a:off x="640080" y="4572000"/>
            <a:ext cx="5486040" cy="502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Debug masks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59"/>
          <p:cNvSpPr/>
          <p:nvPr/>
        </p:nvSpPr>
        <p:spPr>
          <a:xfrm>
            <a:off x="6766560" y="1188720"/>
            <a:ext cx="4571640" cy="43887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Final Deliverables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Publication-ready tables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Segmentation images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Movies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Quantitative statistics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Napari-edited results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3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Software Architecture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60"/>
          <p:cNvSpPr/>
          <p:nvPr/>
        </p:nvSpPr>
        <p:spPr>
          <a:xfrm>
            <a:off x="731520" y="82296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GUI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Down Arrow 3"/>
          <p:cNvSpPr/>
          <p:nvPr/>
        </p:nvSpPr>
        <p:spPr>
          <a:xfrm>
            <a:off x="1828800" y="120708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ounded Rectangle 61"/>
          <p:cNvSpPr/>
          <p:nvPr/>
        </p:nvSpPr>
        <p:spPr>
          <a:xfrm>
            <a:off x="731520" y="138996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Image Loader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Down Arrow 5"/>
          <p:cNvSpPr/>
          <p:nvPr/>
        </p:nvSpPr>
        <p:spPr>
          <a:xfrm>
            <a:off x="1828800" y="177408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ounded Rectangle 62"/>
          <p:cNvSpPr/>
          <p:nvPr/>
        </p:nvSpPr>
        <p:spPr>
          <a:xfrm>
            <a:off x="731520" y="195696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Metadata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Down Arrow 7"/>
          <p:cNvSpPr/>
          <p:nvPr/>
        </p:nvSpPr>
        <p:spPr>
          <a:xfrm>
            <a:off x="1828800" y="234072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63"/>
          <p:cNvSpPr/>
          <p:nvPr/>
        </p:nvSpPr>
        <p:spPr>
          <a:xfrm>
            <a:off x="731520" y="252360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Down Arrow 9"/>
          <p:cNvSpPr/>
          <p:nvPr/>
        </p:nvSpPr>
        <p:spPr>
          <a:xfrm>
            <a:off x="1828800" y="290772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ounded Rectangle 64"/>
          <p:cNvSpPr/>
          <p:nvPr/>
        </p:nvSpPr>
        <p:spPr>
          <a:xfrm>
            <a:off x="731520" y="309060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Segmentation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Down Arrow 11"/>
          <p:cNvSpPr/>
          <p:nvPr/>
        </p:nvSpPr>
        <p:spPr>
          <a:xfrm>
            <a:off x="1828800" y="347472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ounded Rectangle 65"/>
          <p:cNvSpPr/>
          <p:nvPr/>
        </p:nvSpPr>
        <p:spPr>
          <a:xfrm>
            <a:off x="731520" y="365760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Quantification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Down Arrow 13"/>
          <p:cNvSpPr/>
          <p:nvPr/>
        </p:nvSpPr>
        <p:spPr>
          <a:xfrm>
            <a:off x="1828800" y="404172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ounded Rectangle 66"/>
          <p:cNvSpPr/>
          <p:nvPr/>
        </p:nvSpPr>
        <p:spPr>
          <a:xfrm>
            <a:off x="731520" y="422460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Visualization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Down Arrow 15"/>
          <p:cNvSpPr/>
          <p:nvPr/>
        </p:nvSpPr>
        <p:spPr>
          <a:xfrm>
            <a:off x="1828800" y="460872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ounded Rectangle 67"/>
          <p:cNvSpPr/>
          <p:nvPr/>
        </p:nvSpPr>
        <p:spPr>
          <a:xfrm>
            <a:off x="731520" y="479160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Napari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Down Arrow 16"/>
          <p:cNvSpPr/>
          <p:nvPr/>
        </p:nvSpPr>
        <p:spPr>
          <a:xfrm>
            <a:off x="1828800" y="5175360"/>
            <a:ext cx="228240" cy="1641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ounded Rectangle 68"/>
          <p:cNvSpPr/>
          <p:nvPr/>
        </p:nvSpPr>
        <p:spPr>
          <a:xfrm>
            <a:off x="731520" y="5358240"/>
            <a:ext cx="2559960" cy="3837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Export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4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Main Parameters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69"/>
          <p:cNvSpPr/>
          <p:nvPr/>
        </p:nvSpPr>
        <p:spPr>
          <a:xfrm>
            <a:off x="457200" y="914400"/>
            <a:ext cx="3200040" cy="182844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Detection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BLOB_THRESHOLD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MIN/MAX_SIGMA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70"/>
          <p:cNvSpPr/>
          <p:nvPr/>
        </p:nvSpPr>
        <p:spPr>
          <a:xfrm>
            <a:off x="4297680" y="914400"/>
            <a:ext cx="3200040" cy="182844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Segmentation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CH2_SMOOTH_SIGMA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THRESH_BLOCK_SIZE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ERODE_MULT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71"/>
          <p:cNvSpPr/>
          <p:nvPr/>
        </p:nvSpPr>
        <p:spPr>
          <a:xfrm>
            <a:off x="8138160" y="914400"/>
            <a:ext cx="3200040" cy="182844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Watershed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DIST_SMOOTH_SIGMA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H_MAXIMA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72"/>
          <p:cNvSpPr/>
          <p:nvPr/>
        </p:nvSpPr>
        <p:spPr>
          <a:xfrm>
            <a:off x="457200" y="3200400"/>
            <a:ext cx="3200040" cy="182844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Classification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MARGIN_UM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OVERLAP_ALPHA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73"/>
          <p:cNvSpPr/>
          <p:nvPr/>
        </p:nvSpPr>
        <p:spPr>
          <a:xfrm>
            <a:off x="4297680" y="3200400"/>
            <a:ext cx="3200040" cy="182844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Visualization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VIDEO_FPS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NAPARI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VIZ_MIN_VOXELS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5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Repository Structure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74"/>
          <p:cNvSpPr/>
          <p:nvPr/>
        </p:nvSpPr>
        <p:spPr>
          <a:xfrm>
            <a:off x="731520" y="91440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README.md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75"/>
          <p:cNvSpPr/>
          <p:nvPr/>
        </p:nvSpPr>
        <p:spPr>
          <a:xfrm>
            <a:off x="731520" y="164592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requirements.txt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76"/>
          <p:cNvSpPr/>
          <p:nvPr/>
        </p:nvSpPr>
        <p:spPr>
          <a:xfrm>
            <a:off x="731520" y="237744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Lysosomes_Detector_GUI.py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ounded Rectangle 77"/>
          <p:cNvSpPr/>
          <p:nvPr/>
        </p:nvSpPr>
        <p:spPr>
          <a:xfrm>
            <a:off x="731520" y="310896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Example images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78"/>
          <p:cNvSpPr/>
          <p:nvPr/>
        </p:nvSpPr>
        <p:spPr>
          <a:xfrm>
            <a:off x="731520" y="384048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Documentation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79"/>
          <p:cNvSpPr/>
          <p:nvPr/>
        </p:nvSpPr>
        <p:spPr>
          <a:xfrm>
            <a:off x="731520" y="4572000"/>
            <a:ext cx="5028840" cy="5025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Output folder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80"/>
          <p:cNvSpPr/>
          <p:nvPr/>
        </p:nvSpPr>
        <p:spPr>
          <a:xfrm>
            <a:off x="6400800" y="914400"/>
            <a:ext cx="4754520" cy="43887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Generated Outputs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CSV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TIFF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MP4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GIF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Napari-edited tables</a:t>
            </a: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Debug masks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6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Installation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Rounded Rectangle 81"/>
          <p:cNvSpPr/>
          <p:nvPr/>
        </p:nvSpPr>
        <p:spPr>
          <a:xfrm>
            <a:off x="731520" y="914400"/>
            <a:ext cx="10515240" cy="43887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Quick Start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git clone &lt;repository&gt;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pip install -r requirements.txt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python Lysosomes_Detector_GUI.py</a:t>
            </a:r>
            <a:br>
              <a:rPr sz="1600"/>
            </a:br>
            <a:br>
              <a:rPr sz="1600"/>
            </a:b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Supports Python 3.12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7"/>
          <p:cNvSpPr/>
          <p:nvPr/>
        </p:nvSpPr>
        <p:spPr>
          <a:xfrm>
            <a:off x="0" y="0"/>
            <a:ext cx="12188520" cy="499680"/>
          </a:xfrm>
          <a:prstGeom prst="rect">
            <a:avLst/>
          </a:prstGeom>
          <a:solidFill>
            <a:srgbClr val="194EA0"/>
          </a:solidFill>
          <a:ln>
            <a:solidFill>
              <a:srgbClr val="194E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Future Developments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82"/>
          <p:cNvSpPr/>
          <p:nvPr/>
        </p:nvSpPr>
        <p:spPr>
          <a:xfrm>
            <a:off x="640080" y="91440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Deep learning segmentation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83"/>
          <p:cNvSpPr/>
          <p:nvPr/>
        </p:nvSpPr>
        <p:spPr>
          <a:xfrm>
            <a:off x="6126480" y="91440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GPU acceleration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Rounded Rectangle 84"/>
          <p:cNvSpPr/>
          <p:nvPr/>
        </p:nvSpPr>
        <p:spPr>
          <a:xfrm>
            <a:off x="640080" y="192024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Batch processing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85"/>
          <p:cNvSpPr/>
          <p:nvPr/>
        </p:nvSpPr>
        <p:spPr>
          <a:xfrm>
            <a:off x="6126480" y="192024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Parallel computing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86"/>
          <p:cNvSpPr/>
          <p:nvPr/>
        </p:nvSpPr>
        <p:spPr>
          <a:xfrm>
            <a:off x="640080" y="292608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Automatic report generation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87"/>
          <p:cNvSpPr/>
          <p:nvPr/>
        </p:nvSpPr>
        <p:spPr>
          <a:xfrm>
            <a:off x="6126480" y="292608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00A0AA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Cloud processing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88"/>
          <p:cNvSpPr/>
          <p:nvPr/>
        </p:nvSpPr>
        <p:spPr>
          <a:xfrm>
            <a:off x="640080" y="393192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F28C28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Plugin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89"/>
          <p:cNvSpPr/>
          <p:nvPr/>
        </p:nvSpPr>
        <p:spPr>
          <a:xfrm>
            <a:off x="6126480" y="3931920"/>
            <a:ext cx="4937400" cy="731160"/>
          </a:xfrm>
          <a:prstGeom prst="roundRect">
            <a:avLst>
              <a:gd name="adj" fmla="val 16667"/>
            </a:avLst>
          </a:prstGeom>
          <a:solidFill>
            <a:srgbClr val="194EA0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Multi-channel support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6"/>
          <p:cNvSpPr/>
          <p:nvPr/>
        </p:nvSpPr>
        <p:spPr>
          <a:xfrm>
            <a:off x="731520" y="5760720"/>
            <a:ext cx="83178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2026-07-14T15:17:01Z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